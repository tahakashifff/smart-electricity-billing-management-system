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nter" panose="020B0604020202020204" charset="0"/>
      <p:regular r:id="rId15"/>
      <p:bold r:id="rId16"/>
      <p:italic r:id="rId17"/>
      <p:boldItalic r:id="rId18"/>
    </p:embeddedFont>
    <p:embeddedFont>
      <p:font typeface="Inter SemiBold" panose="020B0604020202020204" charset="0"/>
      <p:regular r:id="rId19"/>
      <p:bold r:id="rId20"/>
      <p:italic r:id="rId21"/>
      <p:boldItalic r:id="rId22"/>
    </p:embeddedFont>
    <p:embeddedFont>
      <p:font typeface="Urbanist" panose="020B060402020202020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546DE7-919B-4783-A988-BE38A0E1D46F}">
  <a:tblStyle styleId="{AE546DE7-919B-4783-A988-BE38A0E1D46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312"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e355efb465_0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e355efb46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95200" y="1354821"/>
            <a:ext cx="11601600" cy="3300904"/>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11500" b="1" dirty="0" err="1">
                <a:solidFill>
                  <a:srgbClr val="DEFF9A"/>
                </a:solidFill>
                <a:latin typeface="Urbanist"/>
                <a:ea typeface="Urbanist"/>
                <a:cs typeface="Urbanist"/>
                <a:sym typeface="Urbanist"/>
              </a:rPr>
              <a:t>Voltly</a:t>
            </a:r>
            <a:br>
              <a:rPr lang="en-US" sz="6000" b="1" dirty="0">
                <a:solidFill>
                  <a:srgbClr val="DEFF9A"/>
                </a:solidFill>
                <a:latin typeface="Urbanist"/>
                <a:ea typeface="Urbanist"/>
                <a:cs typeface="Urbanist"/>
                <a:sym typeface="Urbanist"/>
              </a:rPr>
            </a:br>
            <a:r>
              <a:rPr lang="en-US" sz="4000" b="1" dirty="0">
                <a:solidFill>
                  <a:srgbClr val="DEFF9A"/>
                </a:solidFill>
                <a:latin typeface="Urbanist"/>
                <a:ea typeface="Urbanist"/>
                <a:cs typeface="Urbanist"/>
                <a:sym typeface="Urbanist"/>
              </a:rPr>
              <a:t>( A </a:t>
            </a:r>
            <a:r>
              <a:rPr lang="en-US" sz="4000" b="1" i="0" u="none" strike="noStrike" cap="none" dirty="0">
                <a:solidFill>
                  <a:srgbClr val="DEFF9A"/>
                </a:solidFill>
                <a:latin typeface="Urbanist"/>
                <a:ea typeface="Urbanist"/>
                <a:cs typeface="Urbanist"/>
                <a:sym typeface="Urbanist"/>
              </a:rPr>
              <a:t>SMART ELECTRICITY</a:t>
            </a:r>
            <a:br>
              <a:rPr lang="en-US" sz="1100" b="0" i="0" u="none" strike="noStrike" cap="none" dirty="0">
                <a:solidFill>
                  <a:schemeClr val="dk1"/>
                </a:solidFill>
                <a:latin typeface="Calibri"/>
                <a:ea typeface="Calibri"/>
                <a:cs typeface="Calibri"/>
                <a:sym typeface="Calibri"/>
              </a:rPr>
            </a:br>
            <a:r>
              <a:rPr lang="en-US" sz="4000" b="1" i="0" u="none" strike="noStrike" cap="none" dirty="0">
                <a:solidFill>
                  <a:srgbClr val="DEFF9A"/>
                </a:solidFill>
                <a:latin typeface="Urbanist"/>
                <a:ea typeface="Urbanist"/>
                <a:cs typeface="Urbanist"/>
                <a:sym typeface="Urbanist"/>
              </a:rPr>
              <a:t> BILLING SYSTEM </a:t>
            </a:r>
            <a:r>
              <a:rPr lang="en-US" sz="4000" b="1" dirty="0">
                <a:solidFill>
                  <a:srgbClr val="DEFF9A"/>
                </a:solidFill>
                <a:latin typeface="Urbanist"/>
                <a:ea typeface="Urbanist"/>
                <a:cs typeface="Urbanist"/>
                <a:sym typeface="Urbanist"/>
              </a:rPr>
              <a:t>)</a:t>
            </a:r>
            <a:endParaRPr dirty="0"/>
          </a:p>
        </p:txBody>
      </p:sp>
      <p:sp>
        <p:nvSpPr>
          <p:cNvPr id="86" name="Google Shape;86;p13"/>
          <p:cNvSpPr txBox="1"/>
          <p:nvPr/>
        </p:nvSpPr>
        <p:spPr>
          <a:xfrm>
            <a:off x="571500" y="4655725"/>
            <a:ext cx="11049000" cy="27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94A3B8"/>
                </a:solidFill>
                <a:latin typeface="Inter"/>
                <a:ea typeface="Inter"/>
                <a:cs typeface="Inter"/>
                <a:sym typeface="Inter"/>
              </a:rPr>
              <a:t>A C++ Application Built on Core OOP Principles</a:t>
            </a:r>
            <a:endParaRPr/>
          </a:p>
        </p:txBody>
      </p:sp>
      <p:sp>
        <p:nvSpPr>
          <p:cNvPr id="87" name="Google Shape;87;p13"/>
          <p:cNvSpPr txBox="1"/>
          <p:nvPr/>
        </p:nvSpPr>
        <p:spPr>
          <a:xfrm>
            <a:off x="571500" y="5126137"/>
            <a:ext cx="11049000" cy="646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a:solidFill>
                  <a:srgbClr val="DEFF9A"/>
                </a:solidFill>
                <a:latin typeface="Inter SemiBold"/>
                <a:ea typeface="Inter SemiBold"/>
                <a:cs typeface="Inter SemiBold"/>
                <a:sym typeface="Inter SemiBold"/>
              </a:rPr>
              <a:t>GROUP MEMBERS: </a:t>
            </a:r>
            <a:br>
              <a:rPr lang="en-US">
                <a:solidFill>
                  <a:srgbClr val="DEFF9A"/>
                </a:solidFill>
                <a:latin typeface="Inter SemiBold"/>
                <a:ea typeface="Inter SemiBold"/>
                <a:cs typeface="Inter SemiBold"/>
                <a:sym typeface="Inter SemiBold"/>
              </a:rPr>
            </a:br>
            <a:r>
              <a:rPr lang="en-US">
                <a:solidFill>
                  <a:srgbClr val="DEFF9A"/>
                </a:solidFill>
                <a:latin typeface="Inter SemiBold"/>
                <a:ea typeface="Inter SemiBold"/>
                <a:cs typeface="Inter SemiBold"/>
                <a:sym typeface="Inter SemiBold"/>
              </a:rPr>
              <a:t>AYAN AHMED </a:t>
            </a:r>
            <a:br>
              <a:rPr lang="en-US">
                <a:solidFill>
                  <a:srgbClr val="DEFF9A"/>
                </a:solidFill>
                <a:latin typeface="Inter SemiBold"/>
                <a:ea typeface="Inter SemiBold"/>
                <a:cs typeface="Inter SemiBold"/>
                <a:sym typeface="Inter SemiBold"/>
              </a:rPr>
            </a:br>
            <a:r>
              <a:rPr lang="en-US">
                <a:solidFill>
                  <a:srgbClr val="DEFF9A"/>
                </a:solidFill>
                <a:latin typeface="Inter SemiBold"/>
                <a:ea typeface="Inter SemiBold"/>
                <a:cs typeface="Inter SemiBold"/>
                <a:sym typeface="Inter SemiBold"/>
              </a:rPr>
              <a:t>TAHA KASHIF</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571500" y="1843087"/>
            <a:ext cx="11049000" cy="3171825"/>
          </a:xfrm>
          <a:prstGeom prst="rect">
            <a:avLst/>
          </a:prstGeom>
          <a:noFill/>
          <a:ln>
            <a:noFill/>
          </a:ln>
        </p:spPr>
      </p:pic>
      <p:sp>
        <p:nvSpPr>
          <p:cNvPr id="94" name="Google Shape;94;p14"/>
          <p:cNvSpPr txBox="1"/>
          <p:nvPr/>
        </p:nvSpPr>
        <p:spPr>
          <a:xfrm>
            <a:off x="295200" y="2697612"/>
            <a:ext cx="11601600" cy="431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a:solidFill>
                  <a:srgbClr val="F8FAFC"/>
                </a:solidFill>
                <a:latin typeface="Urbanist"/>
                <a:ea typeface="Urbanist"/>
                <a:cs typeface="Urbanist"/>
                <a:sym typeface="Urbanist"/>
              </a:rPr>
              <a:t>SYSTEM OVERVIEW</a:t>
            </a:r>
            <a:endParaRPr sz="2400"/>
          </a:p>
        </p:txBody>
      </p:sp>
      <p:sp>
        <p:nvSpPr>
          <p:cNvPr id="95" name="Google Shape;95;p14"/>
          <p:cNvSpPr txBox="1"/>
          <p:nvPr/>
        </p:nvSpPr>
        <p:spPr>
          <a:xfrm>
            <a:off x="2286000" y="3269662"/>
            <a:ext cx="7620000" cy="7311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900" b="0" i="0" u="none" strike="noStrike" cap="none">
                <a:solidFill>
                  <a:srgbClr val="94A3B8"/>
                </a:solidFill>
                <a:latin typeface="Inter"/>
                <a:ea typeface="Inter"/>
                <a:cs typeface="Inter"/>
                <a:sym typeface="Inter"/>
              </a:rPr>
              <a:t>Streamlining utility management through automated consumption tracking, dynamic billing logic, and persistent data storage.</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9"/>
        <p:cNvGrpSpPr/>
        <p:nvPr/>
      </p:nvGrpSpPr>
      <p:grpSpPr>
        <a:xfrm>
          <a:off x="0" y="0"/>
          <a:ext cx="0" cy="0"/>
          <a:chOff x="0" y="0"/>
          <a:chExt cx="0" cy="0"/>
        </a:xfrm>
      </p:grpSpPr>
      <p:pic>
        <p:nvPicPr>
          <p:cNvPr id="100" name="Google Shape;10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1" name="Google Shape;101;p15" descr="image.png"/>
          <p:cNvPicPr preferRelativeResize="0"/>
          <p:nvPr/>
        </p:nvPicPr>
        <p:blipFill rotWithShape="1">
          <a:blip r:embed="rId4">
            <a:alphaModFix/>
          </a:blip>
          <a:srcRect/>
          <a:stretch/>
        </p:blipFill>
        <p:spPr>
          <a:xfrm>
            <a:off x="571500" y="1966912"/>
            <a:ext cx="3492549" cy="3762375"/>
          </a:xfrm>
          <a:prstGeom prst="rect">
            <a:avLst/>
          </a:prstGeom>
          <a:noFill/>
          <a:ln>
            <a:noFill/>
          </a:ln>
        </p:spPr>
      </p:pic>
      <p:pic>
        <p:nvPicPr>
          <p:cNvPr id="102" name="Google Shape;102;p15" descr="image.png"/>
          <p:cNvPicPr preferRelativeResize="0"/>
          <p:nvPr/>
        </p:nvPicPr>
        <p:blipFill rotWithShape="1">
          <a:blip r:embed="rId5">
            <a:alphaModFix/>
          </a:blip>
          <a:srcRect/>
          <a:stretch/>
        </p:blipFill>
        <p:spPr>
          <a:xfrm>
            <a:off x="4349799" y="1966912"/>
            <a:ext cx="3492549" cy="3762375"/>
          </a:xfrm>
          <a:prstGeom prst="rect">
            <a:avLst/>
          </a:prstGeom>
          <a:noFill/>
          <a:ln>
            <a:noFill/>
          </a:ln>
        </p:spPr>
      </p:pic>
      <p:pic>
        <p:nvPicPr>
          <p:cNvPr id="103" name="Google Shape;103;p15" descr="image.png"/>
          <p:cNvPicPr preferRelativeResize="0"/>
          <p:nvPr/>
        </p:nvPicPr>
        <p:blipFill rotWithShape="1">
          <a:blip r:embed="rId6">
            <a:alphaModFix/>
          </a:blip>
          <a:srcRect/>
          <a:stretch/>
        </p:blipFill>
        <p:spPr>
          <a:xfrm>
            <a:off x="8128099" y="1966912"/>
            <a:ext cx="3492549" cy="3762375"/>
          </a:xfrm>
          <a:prstGeom prst="rect">
            <a:avLst/>
          </a:prstGeom>
          <a:noFill/>
          <a:ln>
            <a:noFill/>
          </a:ln>
        </p:spPr>
      </p:pic>
      <p:sp>
        <p:nvSpPr>
          <p:cNvPr id="104" name="Google Shape;104;p15"/>
          <p:cNvSpPr txBox="1"/>
          <p:nvPr/>
        </p:nvSpPr>
        <p:spPr>
          <a:xfrm>
            <a:off x="962025" y="3109912"/>
            <a:ext cx="151018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Urbanist"/>
                <a:ea typeface="Urbanist"/>
                <a:cs typeface="Urbanist"/>
                <a:sym typeface="Urbanist"/>
              </a:rPr>
              <a:t>Automation</a:t>
            </a:r>
            <a:endParaRPr/>
          </a:p>
        </p:txBody>
      </p:sp>
      <p:sp>
        <p:nvSpPr>
          <p:cNvPr id="105" name="Google Shape;105;p15"/>
          <p:cNvSpPr txBox="1"/>
          <p:nvPr/>
        </p:nvSpPr>
        <p:spPr>
          <a:xfrm>
            <a:off x="962025" y="3767137"/>
            <a:ext cx="2711400" cy="1269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94A3B8"/>
                </a:solidFill>
                <a:latin typeface="Inter"/>
                <a:ea typeface="Inter"/>
                <a:cs typeface="Inter"/>
                <a:sym typeface="Inter"/>
              </a:rPr>
              <a:t>Replacing manual billing processes with a self-calculating algorithm that handles </a:t>
            </a:r>
            <a:r>
              <a:rPr lang="en-US" sz="1500">
                <a:solidFill>
                  <a:srgbClr val="94A3B8"/>
                </a:solidFill>
                <a:latin typeface="Inter"/>
                <a:ea typeface="Inter"/>
                <a:cs typeface="Inter"/>
                <a:sym typeface="Inter"/>
              </a:rPr>
              <a:t>calculations easily</a:t>
            </a:r>
            <a:endParaRPr/>
          </a:p>
        </p:txBody>
      </p:sp>
      <p:sp>
        <p:nvSpPr>
          <p:cNvPr id="106" name="Google Shape;106;p15"/>
          <p:cNvSpPr txBox="1"/>
          <p:nvPr/>
        </p:nvSpPr>
        <p:spPr>
          <a:xfrm>
            <a:off x="4740324" y="3109912"/>
            <a:ext cx="180022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Urbanist"/>
                <a:ea typeface="Urbanist"/>
                <a:cs typeface="Urbanist"/>
                <a:sym typeface="Urbanist"/>
              </a:rPr>
              <a:t>Data Integrity</a:t>
            </a:r>
            <a:endParaRPr/>
          </a:p>
        </p:txBody>
      </p:sp>
      <p:sp>
        <p:nvSpPr>
          <p:cNvPr id="107" name="Google Shape;107;p15"/>
          <p:cNvSpPr txBox="1"/>
          <p:nvPr/>
        </p:nvSpPr>
        <p:spPr>
          <a:xfrm>
            <a:off x="4740324" y="3767137"/>
            <a:ext cx="2711400" cy="1269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94A3B8"/>
                </a:solidFill>
                <a:latin typeface="Inter"/>
                <a:ea typeface="Inter"/>
                <a:cs typeface="Inter"/>
                <a:sym typeface="Inter"/>
              </a:rPr>
              <a:t>Enforcing strict </a:t>
            </a:r>
            <a:r>
              <a:rPr lang="en-US" sz="1500">
                <a:solidFill>
                  <a:srgbClr val="94A3B8"/>
                </a:solidFill>
                <a:latin typeface="Inter"/>
                <a:ea typeface="Inter"/>
                <a:cs typeface="Inter"/>
                <a:sym typeface="Inter"/>
              </a:rPr>
              <a:t>encapsulation </a:t>
            </a:r>
            <a:r>
              <a:rPr lang="en-US" sz="1500" b="0" i="0" u="none" strike="noStrike" cap="none">
                <a:solidFill>
                  <a:srgbClr val="94A3B8"/>
                </a:solidFill>
                <a:latin typeface="Inter"/>
                <a:ea typeface="Inter"/>
                <a:cs typeface="Inter"/>
                <a:sym typeface="Inter"/>
              </a:rPr>
              <a:t>and secure file handling to prevent data loss or unauthorized access.</a:t>
            </a:r>
            <a:endParaRPr/>
          </a:p>
        </p:txBody>
      </p:sp>
      <p:sp>
        <p:nvSpPr>
          <p:cNvPr id="108" name="Google Shape;108;p15"/>
          <p:cNvSpPr txBox="1"/>
          <p:nvPr/>
        </p:nvSpPr>
        <p:spPr>
          <a:xfrm>
            <a:off x="8518624" y="3109912"/>
            <a:ext cx="1210151"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Urbanist"/>
                <a:ea typeface="Urbanist"/>
                <a:cs typeface="Urbanist"/>
                <a:sym typeface="Urbanist"/>
              </a:rPr>
              <a:t>Flexibility</a:t>
            </a:r>
            <a:endParaRPr/>
          </a:p>
        </p:txBody>
      </p:sp>
      <p:sp>
        <p:nvSpPr>
          <p:cNvPr id="109" name="Google Shape;109;p15"/>
          <p:cNvSpPr txBox="1"/>
          <p:nvPr/>
        </p:nvSpPr>
        <p:spPr>
          <a:xfrm>
            <a:off x="8518624" y="3767137"/>
            <a:ext cx="2711400" cy="1269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94A3B8"/>
                </a:solidFill>
                <a:latin typeface="Inter"/>
                <a:ea typeface="Inter"/>
                <a:cs typeface="Inter"/>
                <a:sym typeface="Inter"/>
              </a:rPr>
              <a:t>Managing diverse consumer types</a:t>
            </a:r>
            <a:r>
              <a:rPr lang="en-US" sz="1500">
                <a:solidFill>
                  <a:srgbClr val="94A3B8"/>
                </a:solidFill>
                <a:latin typeface="Inter"/>
                <a:ea typeface="Inter"/>
                <a:cs typeface="Inter"/>
                <a:sym typeface="Inter"/>
              </a:rPr>
              <a:t> </a:t>
            </a:r>
            <a:r>
              <a:rPr lang="en-US" sz="1500" b="0" i="0" u="none" strike="noStrike" cap="none">
                <a:solidFill>
                  <a:srgbClr val="94A3B8"/>
                </a:solidFill>
                <a:latin typeface="Inter"/>
                <a:ea typeface="Inter"/>
                <a:cs typeface="Inter"/>
                <a:sym typeface="Inter"/>
              </a:rPr>
              <a:t>Residential, Commercial, and Solar</a:t>
            </a:r>
            <a:r>
              <a:rPr lang="en-US" sz="1500">
                <a:solidFill>
                  <a:srgbClr val="94A3B8"/>
                </a:solidFill>
                <a:latin typeface="Inter"/>
                <a:ea typeface="Inter"/>
                <a:cs typeface="Inter"/>
                <a:sym typeface="Inter"/>
              </a:rPr>
              <a:t> </a:t>
            </a:r>
            <a:r>
              <a:rPr lang="en-US" sz="1500" b="0" i="0" u="none" strike="noStrike" cap="none">
                <a:solidFill>
                  <a:srgbClr val="94A3B8"/>
                </a:solidFill>
                <a:latin typeface="Inter"/>
                <a:ea typeface="Inter"/>
                <a:cs typeface="Inter"/>
                <a:sym typeface="Inter"/>
              </a:rPr>
              <a:t>within a unified C++ architecture.</a:t>
            </a:r>
            <a:endParaRPr/>
          </a:p>
        </p:txBody>
      </p:sp>
      <p:pic>
        <p:nvPicPr>
          <p:cNvPr id="110" name="Google Shape;110;p15" descr="image.png"/>
          <p:cNvPicPr preferRelativeResize="0"/>
          <p:nvPr/>
        </p:nvPicPr>
        <p:blipFill rotWithShape="1">
          <a:blip r:embed="rId7">
            <a:alphaModFix/>
          </a:blip>
          <a:srcRect/>
          <a:stretch/>
        </p:blipFill>
        <p:spPr>
          <a:xfrm>
            <a:off x="962025" y="2405062"/>
            <a:ext cx="342900" cy="457200"/>
          </a:xfrm>
          <a:prstGeom prst="rect">
            <a:avLst/>
          </a:prstGeom>
          <a:noFill/>
          <a:ln>
            <a:noFill/>
          </a:ln>
        </p:spPr>
      </p:pic>
      <p:pic>
        <p:nvPicPr>
          <p:cNvPr id="111" name="Google Shape;111;p15" descr="image.png"/>
          <p:cNvPicPr preferRelativeResize="0"/>
          <p:nvPr/>
        </p:nvPicPr>
        <p:blipFill rotWithShape="1">
          <a:blip r:embed="rId8">
            <a:alphaModFix/>
          </a:blip>
          <a:srcRect/>
          <a:stretch/>
        </p:blipFill>
        <p:spPr>
          <a:xfrm>
            <a:off x="4740324" y="2405062"/>
            <a:ext cx="457200" cy="457200"/>
          </a:xfrm>
          <a:prstGeom prst="rect">
            <a:avLst/>
          </a:prstGeom>
          <a:noFill/>
          <a:ln>
            <a:noFill/>
          </a:ln>
        </p:spPr>
      </p:pic>
      <p:pic>
        <p:nvPicPr>
          <p:cNvPr id="112" name="Google Shape;112;p15" descr="image.png"/>
          <p:cNvPicPr preferRelativeResize="0"/>
          <p:nvPr/>
        </p:nvPicPr>
        <p:blipFill rotWithShape="1">
          <a:blip r:embed="rId9">
            <a:alphaModFix/>
          </a:blip>
          <a:srcRect/>
          <a:stretch/>
        </p:blipFill>
        <p:spPr>
          <a:xfrm>
            <a:off x="8518624" y="2405062"/>
            <a:ext cx="571500" cy="457200"/>
          </a:xfrm>
          <a:prstGeom prst="rect">
            <a:avLst/>
          </a:prstGeom>
          <a:noFill/>
          <a:ln>
            <a:noFill/>
          </a:ln>
        </p:spPr>
      </p:pic>
      <p:sp>
        <p:nvSpPr>
          <p:cNvPr id="113" name="Google Shape;113;p15"/>
          <p:cNvSpPr txBox="1"/>
          <p:nvPr/>
        </p:nvSpPr>
        <p:spPr>
          <a:xfrm>
            <a:off x="762000" y="571500"/>
            <a:ext cx="11401425"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DEFF9A"/>
                </a:solidFill>
                <a:latin typeface="Urbanist"/>
                <a:ea typeface="Urbanist"/>
                <a:cs typeface="Urbanist"/>
                <a:sym typeface="Urbanist"/>
              </a:rPr>
              <a:t>CORE PROJECT OBJECTIVES</a:t>
            </a:r>
            <a:endParaRPr/>
          </a:p>
        </p:txBody>
      </p:sp>
      <p:sp>
        <p:nvSpPr>
          <p:cNvPr id="114" name="Google Shape;114;p15"/>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8"/>
        <p:cNvGrpSpPr/>
        <p:nvPr/>
      </p:nvGrpSpPr>
      <p:grpSpPr>
        <a:xfrm>
          <a:off x="0" y="0"/>
          <a:ext cx="0" cy="0"/>
          <a:chOff x="0" y="0"/>
          <a:chExt cx="0" cy="0"/>
        </a:xfrm>
      </p:grpSpPr>
      <p:pic>
        <p:nvPicPr>
          <p:cNvPr id="119" name="Google Shape;119;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0" name="Google Shape;120;p16"/>
          <p:cNvSpPr txBox="1"/>
          <p:nvPr/>
        </p:nvSpPr>
        <p:spPr>
          <a:xfrm>
            <a:off x="571500" y="1851775"/>
            <a:ext cx="52389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94A3B8"/>
                </a:solidFill>
                <a:latin typeface="Inter"/>
                <a:ea typeface="Inter"/>
                <a:cs typeface="Inter"/>
                <a:sym typeface="Inter"/>
              </a:rPr>
              <a:t>The system utilizes a </a:t>
            </a:r>
            <a:r>
              <a:rPr lang="en-US" sz="1500" b="1" i="0" u="none" strike="noStrike" cap="none">
                <a:solidFill>
                  <a:srgbClr val="F8FAFC"/>
                </a:solidFill>
                <a:latin typeface="Inter"/>
                <a:ea typeface="Inter"/>
                <a:cs typeface="Inter"/>
                <a:sym typeface="Inter"/>
              </a:rPr>
              <a:t>modular architecture</a:t>
            </a:r>
            <a:r>
              <a:rPr lang="en-US" sz="1500" b="0" i="0" u="none" strike="noStrike" cap="none">
                <a:solidFill>
                  <a:srgbClr val="94A3B8"/>
                </a:solidFill>
                <a:latin typeface="Inter"/>
                <a:ea typeface="Inter"/>
                <a:cs typeface="Inter"/>
                <a:sym typeface="Inter"/>
              </a:rPr>
              <a:t> where concerns are separated into specialized classes:</a:t>
            </a:r>
            <a:endParaRPr/>
          </a:p>
        </p:txBody>
      </p:sp>
      <p:sp>
        <p:nvSpPr>
          <p:cNvPr id="121" name="Google Shape;121;p16"/>
          <p:cNvSpPr txBox="1"/>
          <p:nvPr/>
        </p:nvSpPr>
        <p:spPr>
          <a:xfrm>
            <a:off x="904988" y="2657850"/>
            <a:ext cx="49053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Inter"/>
                <a:ea typeface="Inter"/>
                <a:cs typeface="Inter"/>
                <a:sym typeface="Inter"/>
              </a:rPr>
              <a:t>Consumer Core:</a:t>
            </a:r>
            <a:r>
              <a:rPr lang="en-US" sz="1500" b="0" i="0" u="none" strike="noStrike" cap="none">
                <a:solidFill>
                  <a:srgbClr val="94A3B8"/>
                </a:solidFill>
                <a:latin typeface="Inter"/>
                <a:ea typeface="Inter"/>
                <a:cs typeface="Inter"/>
                <a:sym typeface="Inter"/>
              </a:rPr>
              <a:t> Handles specific billing logic and unit tracking.</a:t>
            </a:r>
            <a:endParaRPr/>
          </a:p>
        </p:txBody>
      </p:sp>
      <p:sp>
        <p:nvSpPr>
          <p:cNvPr id="122" name="Google Shape;122;p16"/>
          <p:cNvSpPr txBox="1"/>
          <p:nvPr/>
        </p:nvSpPr>
        <p:spPr>
          <a:xfrm>
            <a:off x="904988" y="3372250"/>
            <a:ext cx="49053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Inter"/>
                <a:ea typeface="Inter"/>
                <a:cs typeface="Inter"/>
                <a:sym typeface="Inter"/>
              </a:rPr>
              <a:t>Persistence Layer:</a:t>
            </a:r>
            <a:r>
              <a:rPr lang="en-US" sz="1500" b="0" i="0" u="none" strike="noStrike" cap="none">
                <a:solidFill>
                  <a:srgbClr val="94A3B8"/>
                </a:solidFill>
                <a:latin typeface="Inter"/>
                <a:ea typeface="Inter"/>
                <a:cs typeface="Inter"/>
                <a:sym typeface="Inter"/>
              </a:rPr>
              <a:t> Manages file read/write operations via FileManager.</a:t>
            </a:r>
            <a:endParaRPr/>
          </a:p>
        </p:txBody>
      </p:sp>
      <p:sp>
        <p:nvSpPr>
          <p:cNvPr id="123" name="Google Shape;123;p16"/>
          <p:cNvSpPr txBox="1"/>
          <p:nvPr/>
        </p:nvSpPr>
        <p:spPr>
          <a:xfrm>
            <a:off x="904988" y="4189288"/>
            <a:ext cx="49053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Inter"/>
                <a:ea typeface="Inter"/>
                <a:cs typeface="Inter"/>
                <a:sym typeface="Inter"/>
              </a:rPr>
              <a:t>Authentication:</a:t>
            </a:r>
            <a:r>
              <a:rPr lang="en-US" sz="1500" b="0" i="0" u="none" strike="noStrike" cap="none">
                <a:solidFill>
                  <a:srgbClr val="94A3B8"/>
                </a:solidFill>
                <a:latin typeface="Inter"/>
                <a:ea typeface="Inter"/>
                <a:cs typeface="Inter"/>
                <a:sym typeface="Inter"/>
              </a:rPr>
              <a:t> Secure login flow for Admin and User roles.</a:t>
            </a:r>
            <a:endParaRPr/>
          </a:p>
        </p:txBody>
      </p:sp>
      <p:sp>
        <p:nvSpPr>
          <p:cNvPr id="124" name="Google Shape;124;p16"/>
          <p:cNvSpPr txBox="1"/>
          <p:nvPr/>
        </p:nvSpPr>
        <p:spPr>
          <a:xfrm>
            <a:off x="904988" y="4941925"/>
            <a:ext cx="4905300" cy="231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a:solidFill>
                  <a:srgbClr val="F8FAFC"/>
                </a:solidFill>
                <a:latin typeface="Inter"/>
                <a:ea typeface="Inter"/>
                <a:cs typeface="Inter"/>
                <a:sym typeface="Inter"/>
              </a:rPr>
              <a:t>Admin Core: </a:t>
            </a:r>
            <a:r>
              <a:rPr lang="en-US" sz="1500">
                <a:solidFill>
                  <a:srgbClr val="94A3B8"/>
                </a:solidFill>
                <a:latin typeface="Inter"/>
                <a:ea typeface="Inter"/>
                <a:cs typeface="Inter"/>
                <a:sym typeface="Inter"/>
              </a:rPr>
              <a:t>Provides methods for admin operations</a:t>
            </a:r>
            <a:endParaRPr/>
          </a:p>
        </p:txBody>
      </p:sp>
      <p:sp>
        <p:nvSpPr>
          <p:cNvPr id="125" name="Google Shape;125;p16"/>
          <p:cNvSpPr txBox="1"/>
          <p:nvPr/>
        </p:nvSpPr>
        <p:spPr>
          <a:xfrm>
            <a:off x="762000" y="571500"/>
            <a:ext cx="11401425"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DEFF9A"/>
                </a:solidFill>
                <a:latin typeface="Urbanist"/>
                <a:ea typeface="Urbanist"/>
                <a:cs typeface="Urbanist"/>
                <a:sym typeface="Urbanist"/>
              </a:rPr>
              <a:t>SYSTEM ARCHITECTURE DESIGN</a:t>
            </a:r>
            <a:endParaRPr/>
          </a:p>
        </p:txBody>
      </p:sp>
      <p:sp>
        <p:nvSpPr>
          <p:cNvPr id="126" name="Google Shape;126;p16"/>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7" name="Google Shape;127;p16" descr="image.png"/>
          <p:cNvPicPr preferRelativeResize="0"/>
          <p:nvPr/>
        </p:nvPicPr>
        <p:blipFill rotWithShape="1">
          <a:blip r:embed="rId4">
            <a:alphaModFix/>
          </a:blip>
          <a:srcRect/>
          <a:stretch/>
        </p:blipFill>
        <p:spPr>
          <a:xfrm>
            <a:off x="571613" y="2657850"/>
            <a:ext cx="190500" cy="200025"/>
          </a:xfrm>
          <a:prstGeom prst="rect">
            <a:avLst/>
          </a:prstGeom>
          <a:noFill/>
          <a:ln>
            <a:noFill/>
          </a:ln>
        </p:spPr>
      </p:pic>
      <p:pic>
        <p:nvPicPr>
          <p:cNvPr id="128" name="Google Shape;128;p16" descr="image.png"/>
          <p:cNvPicPr preferRelativeResize="0"/>
          <p:nvPr/>
        </p:nvPicPr>
        <p:blipFill rotWithShape="1">
          <a:blip r:embed="rId4">
            <a:alphaModFix/>
          </a:blip>
          <a:srcRect/>
          <a:stretch/>
        </p:blipFill>
        <p:spPr>
          <a:xfrm>
            <a:off x="571613" y="3372250"/>
            <a:ext cx="190500" cy="200025"/>
          </a:xfrm>
          <a:prstGeom prst="rect">
            <a:avLst/>
          </a:prstGeom>
          <a:noFill/>
          <a:ln>
            <a:noFill/>
          </a:ln>
        </p:spPr>
      </p:pic>
      <p:pic>
        <p:nvPicPr>
          <p:cNvPr id="129" name="Google Shape;129;p16" descr="image.png"/>
          <p:cNvPicPr preferRelativeResize="0"/>
          <p:nvPr/>
        </p:nvPicPr>
        <p:blipFill rotWithShape="1">
          <a:blip r:embed="rId4">
            <a:alphaModFix/>
          </a:blip>
          <a:srcRect/>
          <a:stretch/>
        </p:blipFill>
        <p:spPr>
          <a:xfrm>
            <a:off x="571613" y="4189288"/>
            <a:ext cx="190500" cy="200025"/>
          </a:xfrm>
          <a:prstGeom prst="rect">
            <a:avLst/>
          </a:prstGeom>
          <a:noFill/>
          <a:ln>
            <a:noFill/>
          </a:ln>
        </p:spPr>
      </p:pic>
      <p:pic>
        <p:nvPicPr>
          <p:cNvPr id="130" name="Google Shape;130;p16" descr="image.png"/>
          <p:cNvPicPr preferRelativeResize="0"/>
          <p:nvPr/>
        </p:nvPicPr>
        <p:blipFill rotWithShape="1">
          <a:blip r:embed="rId4">
            <a:alphaModFix/>
          </a:blip>
          <a:srcRect/>
          <a:stretch/>
        </p:blipFill>
        <p:spPr>
          <a:xfrm>
            <a:off x="571613" y="4941925"/>
            <a:ext cx="190500" cy="200025"/>
          </a:xfrm>
          <a:prstGeom prst="rect">
            <a:avLst/>
          </a:prstGeom>
          <a:noFill/>
          <a:ln>
            <a:noFill/>
          </a:ln>
        </p:spPr>
      </p:pic>
      <p:pic>
        <p:nvPicPr>
          <p:cNvPr id="131" name="Google Shape;131;p16"/>
          <p:cNvPicPr preferRelativeResize="0"/>
          <p:nvPr/>
        </p:nvPicPr>
        <p:blipFill>
          <a:blip r:embed="rId5">
            <a:alphaModFix/>
          </a:blip>
          <a:stretch>
            <a:fillRect/>
          </a:stretch>
        </p:blipFill>
        <p:spPr>
          <a:xfrm>
            <a:off x="6658176" y="1985950"/>
            <a:ext cx="4905300" cy="319635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35"/>
        <p:cNvGrpSpPr/>
        <p:nvPr/>
      </p:nvGrpSpPr>
      <p:grpSpPr>
        <a:xfrm>
          <a:off x="0" y="0"/>
          <a:ext cx="0" cy="0"/>
          <a:chOff x="0" y="0"/>
          <a:chExt cx="0" cy="0"/>
        </a:xfrm>
      </p:grpSpPr>
      <p:pic>
        <p:nvPicPr>
          <p:cNvPr id="136" name="Google Shape;136;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7" name="Google Shape;137;p17" descr="image.png"/>
          <p:cNvPicPr preferRelativeResize="0"/>
          <p:nvPr/>
        </p:nvPicPr>
        <p:blipFill rotWithShape="1">
          <a:blip r:embed="rId4">
            <a:alphaModFix/>
          </a:blip>
          <a:srcRect/>
          <a:stretch/>
        </p:blipFill>
        <p:spPr>
          <a:xfrm>
            <a:off x="383600" y="2120850"/>
            <a:ext cx="4114025" cy="3409950"/>
          </a:xfrm>
          <a:prstGeom prst="rect">
            <a:avLst/>
          </a:prstGeom>
          <a:noFill/>
          <a:ln>
            <a:noFill/>
          </a:ln>
        </p:spPr>
      </p:pic>
      <p:sp>
        <p:nvSpPr>
          <p:cNvPr id="138" name="Google Shape;138;p17"/>
          <p:cNvSpPr txBox="1"/>
          <p:nvPr/>
        </p:nvSpPr>
        <p:spPr>
          <a:xfrm>
            <a:off x="774125" y="2417425"/>
            <a:ext cx="3899700" cy="646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Urbanist"/>
                <a:ea typeface="Urbanist"/>
                <a:cs typeface="Urbanist"/>
                <a:sym typeface="Urbanist"/>
              </a:rPr>
              <a:t>Abstract Base </a:t>
            </a:r>
            <a:r>
              <a:rPr lang="en-US" sz="2100" b="1">
                <a:solidFill>
                  <a:srgbClr val="F8FAFC"/>
                </a:solidFill>
                <a:latin typeface="Urbanist"/>
                <a:ea typeface="Urbanist"/>
                <a:cs typeface="Urbanist"/>
                <a:sym typeface="Urbanist"/>
              </a:rPr>
              <a:t>Class :</a:t>
            </a:r>
            <a:br>
              <a:rPr lang="en-US" sz="2100" b="1">
                <a:solidFill>
                  <a:srgbClr val="F8FAFC"/>
                </a:solidFill>
                <a:latin typeface="Urbanist"/>
                <a:ea typeface="Urbanist"/>
                <a:cs typeface="Urbanist"/>
                <a:sym typeface="Urbanist"/>
              </a:rPr>
            </a:br>
            <a:r>
              <a:rPr lang="en-US" sz="2100" b="1" i="0" u="none" strike="noStrike" cap="none">
                <a:solidFill>
                  <a:srgbClr val="F8FAFC"/>
                </a:solidFill>
                <a:latin typeface="Urbanist"/>
                <a:ea typeface="Urbanist"/>
                <a:cs typeface="Urbanist"/>
                <a:sym typeface="Urbanist"/>
              </a:rPr>
              <a:t>Consumer Class</a:t>
            </a:r>
            <a:endParaRPr/>
          </a:p>
        </p:txBody>
      </p:sp>
      <p:sp>
        <p:nvSpPr>
          <p:cNvPr id="139" name="Google Shape;139;p17"/>
          <p:cNvSpPr txBox="1"/>
          <p:nvPr/>
        </p:nvSpPr>
        <p:spPr>
          <a:xfrm>
            <a:off x="774125" y="3168600"/>
            <a:ext cx="2901600" cy="1269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94A3B8"/>
                </a:solidFill>
                <a:latin typeface="Inter"/>
                <a:ea typeface="Inter"/>
                <a:cs typeface="Inter"/>
                <a:sym typeface="Inter"/>
              </a:rPr>
              <a:t>The base class utilizes </a:t>
            </a:r>
            <a:r>
              <a:rPr lang="en-US" sz="1500" b="1" i="0" u="none" strike="noStrike" cap="none">
                <a:solidFill>
                  <a:srgbClr val="F8FAFC"/>
                </a:solidFill>
                <a:latin typeface="Inter"/>
                <a:ea typeface="Inter"/>
                <a:cs typeface="Inter"/>
                <a:sym typeface="Inter"/>
              </a:rPr>
              <a:t>Abstraction</a:t>
            </a:r>
            <a:r>
              <a:rPr lang="en-US" sz="1500" b="0" i="0" u="none" strike="noStrike" cap="none">
                <a:solidFill>
                  <a:srgbClr val="94A3B8"/>
                </a:solidFill>
                <a:latin typeface="Inter"/>
                <a:ea typeface="Inter"/>
                <a:cs typeface="Inter"/>
                <a:sym typeface="Inter"/>
              </a:rPr>
              <a:t> and </a:t>
            </a:r>
            <a:r>
              <a:rPr lang="en-US" sz="1500" b="1" i="0" u="none" strike="noStrike" cap="none">
                <a:solidFill>
                  <a:srgbClr val="F8FAFC"/>
                </a:solidFill>
                <a:latin typeface="Inter"/>
                <a:ea typeface="Inter"/>
                <a:cs typeface="Inter"/>
                <a:sym typeface="Inter"/>
              </a:rPr>
              <a:t>Pure Virtual Functions</a:t>
            </a:r>
            <a:r>
              <a:rPr lang="en-US" sz="1500" b="0" i="0" u="none" strike="noStrike" cap="none">
                <a:solidFill>
                  <a:srgbClr val="94A3B8"/>
                </a:solidFill>
                <a:latin typeface="Inter"/>
                <a:ea typeface="Inter"/>
                <a:cs typeface="Inter"/>
                <a:sym typeface="Inter"/>
              </a:rPr>
              <a:t> to enforce a blueprint for all sub-classes.</a:t>
            </a:r>
            <a:endParaRPr/>
          </a:p>
        </p:txBody>
      </p:sp>
      <p:sp>
        <p:nvSpPr>
          <p:cNvPr id="140" name="Google Shape;140;p17"/>
          <p:cNvSpPr txBox="1"/>
          <p:nvPr/>
        </p:nvSpPr>
        <p:spPr>
          <a:xfrm>
            <a:off x="762000" y="571500"/>
            <a:ext cx="11401425"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DEFF9A"/>
                </a:solidFill>
                <a:latin typeface="Urbanist"/>
                <a:ea typeface="Urbanist"/>
                <a:cs typeface="Urbanist"/>
                <a:sym typeface="Urbanist"/>
              </a:rPr>
              <a:t>OOP: INHERITANCE HIERARCHY</a:t>
            </a:r>
            <a:endParaRPr/>
          </a:p>
        </p:txBody>
      </p:sp>
      <p:sp>
        <p:nvSpPr>
          <p:cNvPr id="141" name="Google Shape;141;p17"/>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2" name="Google Shape;142;p17" descr="image.png"/>
          <p:cNvPicPr preferRelativeResize="0"/>
          <p:nvPr/>
        </p:nvPicPr>
        <p:blipFill rotWithShape="1">
          <a:blip r:embed="rId5">
            <a:alphaModFix/>
          </a:blip>
          <a:srcRect/>
          <a:stretch/>
        </p:blipFill>
        <p:spPr>
          <a:xfrm>
            <a:off x="6772275" y="3152775"/>
            <a:ext cx="190500" cy="200025"/>
          </a:xfrm>
          <a:prstGeom prst="rect">
            <a:avLst/>
          </a:prstGeom>
          <a:noFill/>
          <a:ln>
            <a:noFill/>
          </a:ln>
        </p:spPr>
      </p:pic>
      <p:pic>
        <p:nvPicPr>
          <p:cNvPr id="143" name="Google Shape;143;p17" descr="image.png"/>
          <p:cNvPicPr preferRelativeResize="0"/>
          <p:nvPr/>
        </p:nvPicPr>
        <p:blipFill rotWithShape="1">
          <a:blip r:embed="rId5">
            <a:alphaModFix/>
          </a:blip>
          <a:srcRect/>
          <a:stretch/>
        </p:blipFill>
        <p:spPr>
          <a:xfrm>
            <a:off x="6772275" y="3867150"/>
            <a:ext cx="190500" cy="200025"/>
          </a:xfrm>
          <a:prstGeom prst="rect">
            <a:avLst/>
          </a:prstGeom>
          <a:noFill/>
          <a:ln>
            <a:noFill/>
          </a:ln>
        </p:spPr>
      </p:pic>
      <p:pic>
        <p:nvPicPr>
          <p:cNvPr id="144" name="Google Shape;144;p17" descr="image.png"/>
          <p:cNvPicPr preferRelativeResize="0"/>
          <p:nvPr/>
        </p:nvPicPr>
        <p:blipFill rotWithShape="1">
          <a:blip r:embed="rId5">
            <a:alphaModFix/>
          </a:blip>
          <a:srcRect/>
          <a:stretch/>
        </p:blipFill>
        <p:spPr>
          <a:xfrm>
            <a:off x="6772275" y="4581525"/>
            <a:ext cx="190500" cy="200025"/>
          </a:xfrm>
          <a:prstGeom prst="rect">
            <a:avLst/>
          </a:prstGeom>
          <a:noFill/>
          <a:ln>
            <a:noFill/>
          </a:ln>
        </p:spPr>
      </p:pic>
      <p:pic>
        <p:nvPicPr>
          <p:cNvPr id="145" name="Google Shape;145;p17"/>
          <p:cNvPicPr preferRelativeResize="0"/>
          <p:nvPr/>
        </p:nvPicPr>
        <p:blipFill>
          <a:blip r:embed="rId6">
            <a:alphaModFix/>
          </a:blip>
          <a:stretch>
            <a:fillRect/>
          </a:stretch>
        </p:blipFill>
        <p:spPr>
          <a:xfrm>
            <a:off x="4673821" y="2234500"/>
            <a:ext cx="7226526" cy="3138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1" name="Google Shape;151;p18"/>
          <p:cNvSpPr txBox="1"/>
          <p:nvPr/>
        </p:nvSpPr>
        <p:spPr>
          <a:xfrm>
            <a:off x="762000" y="571500"/>
            <a:ext cx="114015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DEFF9A"/>
                </a:solidFill>
                <a:latin typeface="Urbanist"/>
                <a:ea typeface="Urbanist"/>
                <a:cs typeface="Urbanist"/>
                <a:sym typeface="Urbanist"/>
              </a:rPr>
              <a:t>OOP: INHERITANCE HIERARCHY</a:t>
            </a:r>
            <a:endParaRPr/>
          </a:p>
        </p:txBody>
      </p:sp>
      <p:sp>
        <p:nvSpPr>
          <p:cNvPr id="152" name="Google Shape;152;p18"/>
          <p:cNvSpPr/>
          <p:nvPr/>
        </p:nvSpPr>
        <p:spPr>
          <a:xfrm>
            <a:off x="571500" y="571500"/>
            <a:ext cx="573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3" name="Google Shape;153;p18" descr="image.png"/>
          <p:cNvPicPr preferRelativeResize="0"/>
          <p:nvPr/>
        </p:nvPicPr>
        <p:blipFill rotWithShape="1">
          <a:blip r:embed="rId4">
            <a:alphaModFix/>
          </a:blip>
          <a:srcRect/>
          <a:stretch/>
        </p:blipFill>
        <p:spPr>
          <a:xfrm>
            <a:off x="405675" y="2143125"/>
            <a:ext cx="3540025" cy="3409950"/>
          </a:xfrm>
          <a:prstGeom prst="rect">
            <a:avLst/>
          </a:prstGeom>
          <a:noFill/>
          <a:ln>
            <a:noFill/>
          </a:ln>
        </p:spPr>
      </p:pic>
      <p:sp>
        <p:nvSpPr>
          <p:cNvPr id="154" name="Google Shape;154;p18"/>
          <p:cNvSpPr txBox="1"/>
          <p:nvPr/>
        </p:nvSpPr>
        <p:spPr>
          <a:xfrm>
            <a:off x="796200" y="2533650"/>
            <a:ext cx="27204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F8FAFC"/>
                </a:solidFill>
                <a:latin typeface="Urbanist"/>
                <a:ea typeface="Urbanist"/>
                <a:cs typeface="Urbanist"/>
                <a:sym typeface="Urbanist"/>
              </a:rPr>
              <a:t>Inheritance Structure</a:t>
            </a:r>
            <a:endParaRPr/>
          </a:p>
        </p:txBody>
      </p:sp>
      <p:sp>
        <p:nvSpPr>
          <p:cNvPr id="155" name="Google Shape;155;p18"/>
          <p:cNvSpPr txBox="1"/>
          <p:nvPr/>
        </p:nvSpPr>
        <p:spPr>
          <a:xfrm>
            <a:off x="796200" y="3152775"/>
            <a:ext cx="32670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Inter"/>
                <a:ea typeface="Inter"/>
                <a:cs typeface="Inter"/>
                <a:sym typeface="Inter"/>
              </a:rPr>
              <a:t>Residential:</a:t>
            </a:r>
            <a:r>
              <a:rPr lang="en-US" sz="1500" b="0" i="0" u="none" strike="noStrike" cap="none">
                <a:solidFill>
                  <a:srgbClr val="94A3B8"/>
                </a:solidFill>
                <a:latin typeface="Inter"/>
                <a:ea typeface="Inter"/>
                <a:cs typeface="Inter"/>
                <a:sym typeface="Inter"/>
              </a:rPr>
              <a:t> Base tier with Peak/Off-Peak logic.</a:t>
            </a:r>
            <a:endParaRPr/>
          </a:p>
        </p:txBody>
      </p:sp>
      <p:sp>
        <p:nvSpPr>
          <p:cNvPr id="156" name="Google Shape;156;p18"/>
          <p:cNvSpPr txBox="1"/>
          <p:nvPr/>
        </p:nvSpPr>
        <p:spPr>
          <a:xfrm>
            <a:off x="796200" y="3867150"/>
            <a:ext cx="33609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Inter"/>
                <a:ea typeface="Inter"/>
                <a:cs typeface="Inter"/>
                <a:sym typeface="Inter"/>
              </a:rPr>
              <a:t>Commercial:</a:t>
            </a:r>
            <a:r>
              <a:rPr lang="en-US" sz="1500" b="0" i="0" u="none" strike="noStrike" cap="none">
                <a:solidFill>
                  <a:srgbClr val="94A3B8"/>
                </a:solidFill>
                <a:latin typeface="Inter"/>
                <a:ea typeface="Inter"/>
                <a:cs typeface="Inter"/>
                <a:sym typeface="Inter"/>
              </a:rPr>
              <a:t> Flat rate with high-volume scaling.</a:t>
            </a:r>
            <a:endParaRPr/>
          </a:p>
        </p:txBody>
      </p:sp>
      <p:sp>
        <p:nvSpPr>
          <p:cNvPr id="157" name="Google Shape;157;p18"/>
          <p:cNvSpPr txBox="1"/>
          <p:nvPr/>
        </p:nvSpPr>
        <p:spPr>
          <a:xfrm>
            <a:off x="796200" y="4581525"/>
            <a:ext cx="2797200" cy="57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Inter"/>
                <a:ea typeface="Inter"/>
                <a:cs typeface="Inter"/>
                <a:sym typeface="Inter"/>
              </a:rPr>
              <a:t>Solar:</a:t>
            </a:r>
            <a:r>
              <a:rPr lang="en-US" sz="1500" b="0" i="0" u="none" strike="noStrike" cap="none">
                <a:solidFill>
                  <a:srgbClr val="94A3B8"/>
                </a:solidFill>
                <a:latin typeface="Inter"/>
                <a:ea typeface="Inter"/>
                <a:cs typeface="Inter"/>
                <a:sym typeface="Inter"/>
              </a:rPr>
              <a:t> Net-metering extension of Residential.</a:t>
            </a:r>
            <a:endParaRPr/>
          </a:p>
        </p:txBody>
      </p:sp>
      <p:pic>
        <p:nvPicPr>
          <p:cNvPr id="158" name="Google Shape;158;p18" title="Gemini_Generated_Image_ssi0nmssi0nmssi0.png"/>
          <p:cNvPicPr preferRelativeResize="0"/>
          <p:nvPr/>
        </p:nvPicPr>
        <p:blipFill rotWithShape="1">
          <a:blip r:embed="rId5">
            <a:alphaModFix/>
          </a:blip>
          <a:srcRect t="6015"/>
          <a:stretch/>
        </p:blipFill>
        <p:spPr>
          <a:xfrm>
            <a:off x="4251025" y="1869300"/>
            <a:ext cx="7720576" cy="3957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2"/>
        <p:cNvGrpSpPr/>
        <p:nvPr/>
      </p:nvGrpSpPr>
      <p:grpSpPr>
        <a:xfrm>
          <a:off x="0" y="0"/>
          <a:ext cx="0" cy="0"/>
          <a:chOff x="0" y="0"/>
          <a:chExt cx="0" cy="0"/>
        </a:xfrm>
      </p:grpSpPr>
      <p:sp>
        <p:nvSpPr>
          <p:cNvPr id="163" name="Google Shape;163;p19"/>
          <p:cNvSpPr txBox="1"/>
          <p:nvPr/>
        </p:nvSpPr>
        <p:spPr>
          <a:xfrm>
            <a:off x="762000" y="571500"/>
            <a:ext cx="11401425"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DEFF9A"/>
                </a:solidFill>
                <a:latin typeface="Urbanist"/>
                <a:ea typeface="Urbanist"/>
                <a:cs typeface="Urbanist"/>
                <a:sym typeface="Urbanist"/>
              </a:rPr>
              <a:t>DYNAMIC BILLING LOGIC</a:t>
            </a:r>
            <a:endParaRPr/>
          </a:p>
        </p:txBody>
      </p:sp>
      <p:sp>
        <p:nvSpPr>
          <p:cNvPr id="164" name="Google Shape;164;p19"/>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5" name="Google Shape;165;p19" descr="image.png"/>
          <p:cNvPicPr preferRelativeResize="0"/>
          <p:nvPr/>
        </p:nvPicPr>
        <p:blipFill rotWithShape="1">
          <a:blip r:embed="rId3">
            <a:alphaModFix/>
          </a:blip>
          <a:srcRect/>
          <a:stretch/>
        </p:blipFill>
        <p:spPr>
          <a:xfrm>
            <a:off x="854850" y="4700350"/>
            <a:ext cx="10482300" cy="1853825"/>
          </a:xfrm>
          <a:prstGeom prst="rect">
            <a:avLst/>
          </a:prstGeom>
          <a:noFill/>
          <a:ln>
            <a:noFill/>
          </a:ln>
        </p:spPr>
      </p:pic>
      <p:graphicFrame>
        <p:nvGraphicFramePr>
          <p:cNvPr id="166" name="Google Shape;166;p19"/>
          <p:cNvGraphicFramePr/>
          <p:nvPr/>
        </p:nvGraphicFramePr>
        <p:xfrm>
          <a:off x="981075" y="4904750"/>
          <a:ext cx="10229850" cy="1482300"/>
        </p:xfrm>
        <a:graphic>
          <a:graphicData uri="http://schemas.openxmlformats.org/drawingml/2006/table">
            <a:tbl>
              <a:tblPr>
                <a:noFill/>
                <a:tableStyleId>{AE546DE7-919B-4783-A988-BE38A0E1D46F}</a:tableStyleId>
              </a:tblPr>
              <a:tblGrid>
                <a:gridCol w="11430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5114925">
                  <a:extLst>
                    <a:ext uri="{9D8B030D-6E8A-4147-A177-3AD203B41FA5}">
                      <a16:colId xmlns:a16="http://schemas.microsoft.com/office/drawing/2014/main" val="20002"/>
                    </a:ext>
                  </a:extLst>
                </a:gridCol>
                <a:gridCol w="2562225">
                  <a:extLst>
                    <a:ext uri="{9D8B030D-6E8A-4147-A177-3AD203B41FA5}">
                      <a16:colId xmlns:a16="http://schemas.microsoft.com/office/drawing/2014/main" val="20003"/>
                    </a:ext>
                  </a:extLst>
                </a:gridCol>
              </a:tblGrid>
              <a:tr h="305875">
                <a:tc>
                  <a:txBody>
                    <a:bodyPr/>
                    <a:lstStyle/>
                    <a:p>
                      <a:pPr marL="0" lvl="0" indent="0" algn="l" rtl="0">
                        <a:lnSpc>
                          <a:spcPct val="115000"/>
                        </a:lnSpc>
                        <a:spcBef>
                          <a:spcPts val="0"/>
                        </a:spcBef>
                        <a:spcAft>
                          <a:spcPts val="0"/>
                        </a:spcAft>
                        <a:buNone/>
                      </a:pPr>
                      <a:r>
                        <a:rPr lang="en-US" sz="1200">
                          <a:solidFill>
                            <a:srgbClr val="DEFF9A"/>
                          </a:solidFill>
                        </a:rPr>
                        <a:t>Consumer Type</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rgbClr val="DEFF9A"/>
                          </a:solidFill>
                        </a:rPr>
                        <a:t>Inputs Required</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rgbClr val="DEFF9A"/>
                          </a:solidFill>
                        </a:rPr>
                        <a:t>Formula</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rgbClr val="DEFF9A"/>
                          </a:solidFill>
                        </a:rPr>
                        <a:t>Default Rates Applied</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305875">
                <a:tc>
                  <a:txBody>
                    <a:bodyPr/>
                    <a:lstStyle/>
                    <a:p>
                      <a:pPr marL="0" lvl="0" indent="0" algn="l" rtl="0">
                        <a:lnSpc>
                          <a:spcPct val="115000"/>
                        </a:lnSpc>
                        <a:spcBef>
                          <a:spcPts val="0"/>
                        </a:spcBef>
                        <a:spcAft>
                          <a:spcPts val="0"/>
                        </a:spcAft>
                        <a:buNone/>
                      </a:pPr>
                      <a:r>
                        <a:rPr lang="en-US" sz="1200">
                          <a:solidFill>
                            <a:srgbClr val="DEFF9A"/>
                          </a:solidFill>
                        </a:rPr>
                        <a:t>Commercial</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rgbClr val="DEFF9A"/>
                          </a:solidFill>
                        </a:rPr>
                        <a:t>units</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rgbClr val="DEFF9A"/>
                          </a:solidFill>
                        </a:rPr>
                        <a:t>units * commercialRate</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rgbClr val="DEFF9A"/>
                          </a:solidFill>
                        </a:rPr>
                        <a:t>units * 25</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305875">
                <a:tc>
                  <a:txBody>
                    <a:bodyPr/>
                    <a:lstStyle/>
                    <a:p>
                      <a:pPr marL="0" lvl="0" indent="0" algn="l" rtl="0">
                        <a:lnSpc>
                          <a:spcPct val="115000"/>
                        </a:lnSpc>
                        <a:spcBef>
                          <a:spcPts val="0"/>
                        </a:spcBef>
                        <a:spcAft>
                          <a:spcPts val="0"/>
                        </a:spcAft>
                        <a:buNone/>
                      </a:pPr>
                      <a:r>
                        <a:rPr lang="en-US" sz="1200">
                          <a:solidFill>
                            <a:srgbClr val="DEFF9A"/>
                          </a:solidFill>
                        </a:rPr>
                        <a:t>Residential</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rgbClr val="DEFF9A"/>
                          </a:solidFill>
                        </a:rPr>
                        <a:t>peak, offPeak</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rgbClr val="DEFF9A"/>
                          </a:solidFill>
                        </a:rPr>
                        <a:t>(peak * residentialPeakRate) + (offPeak * residentialOffPeakRate)</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rgbClr val="DEFF9A"/>
                          </a:solidFill>
                        </a:rPr>
                        <a:t>(peak * 20) + (offPeak * 15)</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564675">
                <a:tc>
                  <a:txBody>
                    <a:bodyPr/>
                    <a:lstStyle/>
                    <a:p>
                      <a:pPr marL="0" lvl="0" indent="0" algn="l" rtl="0">
                        <a:lnSpc>
                          <a:spcPct val="115000"/>
                        </a:lnSpc>
                        <a:spcBef>
                          <a:spcPts val="0"/>
                        </a:spcBef>
                        <a:spcAft>
                          <a:spcPts val="0"/>
                        </a:spcAft>
                        <a:buNone/>
                      </a:pPr>
                      <a:r>
                        <a:rPr lang="en-US" sz="1200">
                          <a:solidFill>
                            <a:srgbClr val="DEFF9A"/>
                          </a:solidFill>
                        </a:rPr>
                        <a:t>Solar</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rgbClr val="DEFF9A"/>
                          </a:solidFill>
                        </a:rPr>
                        <a:t>peak, offPeak, exported</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rgbClr val="DEFF9A"/>
                          </a:solidFill>
                        </a:rPr>
                        <a:t>(peak * residentialPeakRate) + (offPeak * residentialOffPeakRate) - (exported * solarRate)</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200">
                          <a:solidFill>
                            <a:srgbClr val="DEFF9A"/>
                          </a:solidFill>
                        </a:rPr>
                        <a:t>(peak * 20) + (offPeak * 15) - (exported * 10)</a:t>
                      </a:r>
                      <a:endParaRPr sz="1200">
                        <a:solidFill>
                          <a:srgbClr val="DEFF9A"/>
                        </a:solidFill>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167" name="Google Shape;167;p19" descr="image.png"/>
          <p:cNvPicPr preferRelativeResize="0"/>
          <p:nvPr/>
        </p:nvPicPr>
        <p:blipFill rotWithShape="1">
          <a:blip r:embed="rId3">
            <a:alphaModFix/>
          </a:blip>
          <a:srcRect/>
          <a:stretch/>
        </p:blipFill>
        <p:spPr>
          <a:xfrm>
            <a:off x="854850" y="1204075"/>
            <a:ext cx="10482300" cy="3320900"/>
          </a:xfrm>
          <a:prstGeom prst="rect">
            <a:avLst/>
          </a:prstGeom>
          <a:noFill/>
          <a:ln>
            <a:noFill/>
          </a:ln>
        </p:spPr>
      </p:pic>
      <p:sp>
        <p:nvSpPr>
          <p:cNvPr id="168" name="Google Shape;168;p19"/>
          <p:cNvSpPr txBox="1"/>
          <p:nvPr/>
        </p:nvSpPr>
        <p:spPr>
          <a:xfrm>
            <a:off x="1132200" y="1332325"/>
            <a:ext cx="12768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F8FAFC"/>
                </a:solidFill>
                <a:latin typeface="Urbanist"/>
                <a:ea typeface="Urbanist"/>
                <a:cs typeface="Urbanist"/>
                <a:sym typeface="Urbanist"/>
              </a:rPr>
              <a:t>Overview</a:t>
            </a:r>
            <a:endParaRPr/>
          </a:p>
        </p:txBody>
      </p:sp>
      <p:sp>
        <p:nvSpPr>
          <p:cNvPr id="169" name="Google Shape;169;p19"/>
          <p:cNvSpPr txBox="1"/>
          <p:nvPr/>
        </p:nvSpPr>
        <p:spPr>
          <a:xfrm>
            <a:off x="1132200" y="1747075"/>
            <a:ext cx="9523800" cy="2508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500">
                <a:solidFill>
                  <a:schemeClr val="lt1"/>
                </a:solidFill>
                <a:latin typeface="Urbanist"/>
                <a:ea typeface="Urbanist"/>
                <a:cs typeface="Urbanist"/>
                <a:sym typeface="Urbanist"/>
              </a:rPr>
              <a:t>This table outlines the logic and default pricing rules the system uses to calculate utility bills across different consumer categories.</a:t>
            </a:r>
            <a:br>
              <a:rPr lang="en-US" sz="1500">
                <a:solidFill>
                  <a:schemeClr val="lt1"/>
                </a:solidFill>
                <a:latin typeface="Urbanist"/>
                <a:ea typeface="Urbanist"/>
                <a:cs typeface="Urbanist"/>
                <a:sym typeface="Urbanist"/>
              </a:rPr>
            </a:br>
            <a:r>
              <a:rPr lang="en-US" sz="1500" b="1">
                <a:solidFill>
                  <a:schemeClr val="lt1"/>
                </a:solidFill>
                <a:latin typeface="Urbanist"/>
                <a:ea typeface="Urbanist"/>
                <a:cs typeface="Urbanist"/>
                <a:sym typeface="Urbanist"/>
              </a:rPr>
              <a:t>Key Takeaways:</a:t>
            </a:r>
            <a:endParaRPr sz="1500" b="1">
              <a:solidFill>
                <a:schemeClr val="lt1"/>
              </a:solidFill>
              <a:latin typeface="Urbanist"/>
              <a:ea typeface="Urbanist"/>
              <a:cs typeface="Urbanist"/>
              <a:sym typeface="Urbanist"/>
            </a:endParaRPr>
          </a:p>
          <a:p>
            <a:pPr marL="457200" lvl="0" indent="-323850" algn="l" rtl="0">
              <a:lnSpc>
                <a:spcPct val="115000"/>
              </a:lnSpc>
              <a:spcBef>
                <a:spcPts val="1200"/>
              </a:spcBef>
              <a:spcAft>
                <a:spcPts val="0"/>
              </a:spcAft>
              <a:buClr>
                <a:schemeClr val="lt1"/>
              </a:buClr>
              <a:buSzPts val="1500"/>
              <a:buChar char="●"/>
            </a:pPr>
            <a:r>
              <a:rPr lang="en-US" sz="1500" b="1">
                <a:solidFill>
                  <a:schemeClr val="lt1"/>
                </a:solidFill>
                <a:latin typeface="Urbanist"/>
                <a:ea typeface="Urbanist"/>
                <a:cs typeface="Urbanist"/>
                <a:sym typeface="Urbanist"/>
              </a:rPr>
              <a:t>Commercial Tier:</a:t>
            </a:r>
            <a:r>
              <a:rPr lang="en-US" sz="1500">
                <a:solidFill>
                  <a:schemeClr val="lt1"/>
                </a:solidFill>
                <a:latin typeface="Urbanist"/>
                <a:ea typeface="Urbanist"/>
                <a:cs typeface="Urbanist"/>
                <a:sym typeface="Urbanist"/>
              </a:rPr>
              <a:t> Employs a straightforward flat-rate calculation based on total units consumed.</a:t>
            </a:r>
            <a:endParaRPr sz="1500">
              <a:solidFill>
                <a:schemeClr val="lt1"/>
              </a:solidFill>
              <a:latin typeface="Urbanist"/>
              <a:ea typeface="Urbanist"/>
              <a:cs typeface="Urbanist"/>
              <a:sym typeface="Urbanist"/>
            </a:endParaRPr>
          </a:p>
          <a:p>
            <a:pPr marL="457200" lvl="0" indent="-323850" algn="l" rtl="0">
              <a:lnSpc>
                <a:spcPct val="115000"/>
              </a:lnSpc>
              <a:spcBef>
                <a:spcPts val="0"/>
              </a:spcBef>
              <a:spcAft>
                <a:spcPts val="0"/>
              </a:spcAft>
              <a:buClr>
                <a:schemeClr val="lt1"/>
              </a:buClr>
              <a:buSzPts val="1500"/>
              <a:buChar char="●"/>
            </a:pPr>
            <a:r>
              <a:rPr lang="en-US" sz="1500" b="1">
                <a:solidFill>
                  <a:schemeClr val="lt1"/>
                </a:solidFill>
                <a:latin typeface="Urbanist"/>
                <a:ea typeface="Urbanist"/>
                <a:cs typeface="Urbanist"/>
                <a:sym typeface="Urbanist"/>
              </a:rPr>
              <a:t>Residential Tier:</a:t>
            </a:r>
            <a:r>
              <a:rPr lang="en-US" sz="1500">
                <a:solidFill>
                  <a:schemeClr val="lt1"/>
                </a:solidFill>
                <a:latin typeface="Urbanist"/>
                <a:ea typeface="Urbanist"/>
                <a:cs typeface="Urbanist"/>
                <a:sym typeface="Urbanist"/>
              </a:rPr>
              <a:t> Utilizes a dual-rate system, separating peak and off-peak consumption to calculate a weighted total, reflecting real-world variable grid pricing.</a:t>
            </a:r>
            <a:endParaRPr sz="1500">
              <a:solidFill>
                <a:schemeClr val="lt1"/>
              </a:solidFill>
              <a:latin typeface="Urbanist"/>
              <a:ea typeface="Urbanist"/>
              <a:cs typeface="Urbanist"/>
              <a:sym typeface="Urbanist"/>
            </a:endParaRPr>
          </a:p>
          <a:p>
            <a:pPr marL="457200" lvl="0" indent="-323850" algn="l" rtl="0">
              <a:lnSpc>
                <a:spcPct val="115000"/>
              </a:lnSpc>
              <a:spcBef>
                <a:spcPts val="0"/>
              </a:spcBef>
              <a:spcAft>
                <a:spcPts val="0"/>
              </a:spcAft>
              <a:buClr>
                <a:schemeClr val="lt1"/>
              </a:buClr>
              <a:buSzPts val="1500"/>
              <a:buChar char="●"/>
            </a:pPr>
            <a:r>
              <a:rPr lang="en-US" sz="1500" b="1">
                <a:solidFill>
                  <a:schemeClr val="lt1"/>
                </a:solidFill>
                <a:latin typeface="Urbanist"/>
                <a:ea typeface="Urbanist"/>
                <a:cs typeface="Urbanist"/>
                <a:sym typeface="Urbanist"/>
              </a:rPr>
              <a:t>Solar Tier (Net-Metering):</a:t>
            </a:r>
            <a:r>
              <a:rPr lang="en-US" sz="1500">
                <a:solidFill>
                  <a:schemeClr val="lt1"/>
                </a:solidFill>
                <a:latin typeface="Urbanist"/>
                <a:ea typeface="Urbanist"/>
                <a:cs typeface="Urbanist"/>
                <a:sym typeface="Urbanist"/>
              </a:rPr>
              <a:t> Builds upon the residential framework by factoring in an "exported units" variable. The system automatically calculates the value of the energy the consumer feeds back into the grid and deducts it from their total usage, seamlessly handling bill reductions or generating credits.</a:t>
            </a:r>
            <a:endParaRPr sz="1600">
              <a:solidFill>
                <a:schemeClr val="lt1"/>
              </a:solidFill>
              <a:latin typeface="Urbanist"/>
              <a:ea typeface="Urbanist"/>
              <a:cs typeface="Urbanist"/>
              <a:sym typeface="Urbani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3"/>
        <p:cNvGrpSpPr/>
        <p:nvPr/>
      </p:nvGrpSpPr>
      <p:grpSpPr>
        <a:xfrm>
          <a:off x="0" y="0"/>
          <a:ext cx="0" cy="0"/>
          <a:chOff x="0" y="0"/>
          <a:chExt cx="0" cy="0"/>
        </a:xfrm>
      </p:grpSpPr>
      <p:pic>
        <p:nvPicPr>
          <p:cNvPr id="174" name="Google Shape;174;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5" name="Google Shape;175;p20" descr="image.png"/>
          <p:cNvPicPr preferRelativeResize="0"/>
          <p:nvPr/>
        </p:nvPicPr>
        <p:blipFill rotWithShape="1">
          <a:blip r:embed="rId4">
            <a:alphaModFix/>
          </a:blip>
          <a:srcRect/>
          <a:stretch/>
        </p:blipFill>
        <p:spPr>
          <a:xfrm>
            <a:off x="571500" y="1386300"/>
            <a:ext cx="11049000" cy="4876800"/>
          </a:xfrm>
          <a:prstGeom prst="rect">
            <a:avLst/>
          </a:prstGeom>
          <a:noFill/>
          <a:ln>
            <a:noFill/>
          </a:ln>
        </p:spPr>
      </p:pic>
      <p:sp>
        <p:nvSpPr>
          <p:cNvPr id="176" name="Google Shape;176;p20"/>
          <p:cNvSpPr txBox="1"/>
          <p:nvPr/>
        </p:nvSpPr>
        <p:spPr>
          <a:xfrm>
            <a:off x="571500" y="4633912"/>
            <a:ext cx="11049000" cy="285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1" u="none" strike="noStrike" cap="none">
                <a:solidFill>
                  <a:srgbClr val="94A3B8"/>
                </a:solidFill>
                <a:latin typeface="Inter"/>
                <a:ea typeface="Inter"/>
                <a:cs typeface="Inter"/>
                <a:sym typeface="Inter"/>
              </a:rPr>
              <a:t>Automation reduces human error by 95% and cuts processing time from hours to milliseconds.</a:t>
            </a:r>
            <a:endParaRPr/>
          </a:p>
        </p:txBody>
      </p:sp>
      <p:sp>
        <p:nvSpPr>
          <p:cNvPr id="177" name="Google Shape;177;p20"/>
          <p:cNvSpPr txBox="1"/>
          <p:nvPr/>
        </p:nvSpPr>
        <p:spPr>
          <a:xfrm>
            <a:off x="762000" y="571500"/>
            <a:ext cx="11401425"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DEFF9A"/>
                </a:solidFill>
                <a:latin typeface="Urbanist"/>
                <a:ea typeface="Urbanist"/>
                <a:cs typeface="Urbanist"/>
                <a:sym typeface="Urbanist"/>
              </a:rPr>
              <a:t>MANUAL VS. AUTOMATED EFFICIENCY</a:t>
            </a:r>
            <a:endParaRPr/>
          </a:p>
        </p:txBody>
      </p:sp>
      <p:sp>
        <p:nvSpPr>
          <p:cNvPr id="178" name="Google Shape;178;p20"/>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82"/>
        <p:cNvGrpSpPr/>
        <p:nvPr/>
      </p:nvGrpSpPr>
      <p:grpSpPr>
        <a:xfrm>
          <a:off x="0" y="0"/>
          <a:ext cx="0" cy="0"/>
          <a:chOff x="0" y="0"/>
          <a:chExt cx="0" cy="0"/>
        </a:xfrm>
      </p:grpSpPr>
      <p:pic>
        <p:nvPicPr>
          <p:cNvPr id="183" name="Google Shape;183;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4" name="Google Shape;184;p21"/>
          <p:cNvSpPr txBox="1"/>
          <p:nvPr/>
        </p:nvSpPr>
        <p:spPr>
          <a:xfrm>
            <a:off x="762000" y="571500"/>
            <a:ext cx="5000625"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DEFF9A"/>
                </a:solidFill>
                <a:latin typeface="Urbanist"/>
                <a:ea typeface="Urbanist"/>
                <a:cs typeface="Urbanist"/>
                <a:sym typeface="Urbanist"/>
              </a:rPr>
              <a:t>ADMIN CONTROLS</a:t>
            </a:r>
            <a:endParaRPr/>
          </a:p>
        </p:txBody>
      </p:sp>
      <p:sp>
        <p:nvSpPr>
          <p:cNvPr id="185" name="Google Shape;185;p21"/>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21"/>
          <p:cNvSpPr txBox="1"/>
          <p:nvPr/>
        </p:nvSpPr>
        <p:spPr>
          <a:xfrm>
            <a:off x="418775" y="1554675"/>
            <a:ext cx="2751900" cy="9234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94A3B8"/>
                </a:solidFill>
                <a:latin typeface="Inter"/>
                <a:ea typeface="Inter"/>
                <a:cs typeface="Inter"/>
                <a:sym typeface="Inter"/>
              </a:rPr>
              <a:t>The Admin Dashboard provides high-level oversight and management tools:</a:t>
            </a:r>
            <a:endParaRPr/>
          </a:p>
        </p:txBody>
      </p:sp>
      <p:sp>
        <p:nvSpPr>
          <p:cNvPr id="187" name="Google Shape;187;p21"/>
          <p:cNvSpPr txBox="1"/>
          <p:nvPr/>
        </p:nvSpPr>
        <p:spPr>
          <a:xfrm>
            <a:off x="418775" y="2794050"/>
            <a:ext cx="2634300" cy="1269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Inter"/>
                <a:ea typeface="Inter"/>
                <a:cs typeface="Inter"/>
                <a:sym typeface="Inter"/>
              </a:rPr>
              <a:t>Polymorphic Management:</a:t>
            </a:r>
            <a:r>
              <a:rPr lang="en-US" sz="1500" b="0" i="0" u="none" strike="noStrike" cap="none">
                <a:solidFill>
                  <a:srgbClr val="94A3B8"/>
                </a:solidFill>
                <a:latin typeface="Inter"/>
                <a:ea typeface="Inter"/>
                <a:cs typeface="Inter"/>
                <a:sym typeface="Inter"/>
              </a:rPr>
              <a:t> Store all consumer types in a single array using Consumer* pointers.</a:t>
            </a:r>
            <a:endParaRPr/>
          </a:p>
        </p:txBody>
      </p:sp>
      <p:sp>
        <p:nvSpPr>
          <p:cNvPr id="188" name="Google Shape;188;p21"/>
          <p:cNvSpPr txBox="1"/>
          <p:nvPr/>
        </p:nvSpPr>
        <p:spPr>
          <a:xfrm>
            <a:off x="389374" y="4379925"/>
            <a:ext cx="2693100" cy="1269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Inter"/>
                <a:ea typeface="Inter"/>
                <a:cs typeface="Inter"/>
                <a:sym typeface="Inter"/>
              </a:rPr>
              <a:t>Global Statistics:</a:t>
            </a:r>
            <a:r>
              <a:rPr lang="en-US" sz="1500" b="0" i="0" u="none" strike="noStrike" cap="none">
                <a:solidFill>
                  <a:srgbClr val="94A3B8"/>
                </a:solidFill>
                <a:latin typeface="Inter"/>
                <a:ea typeface="Inter"/>
                <a:cs typeface="Inter"/>
                <a:sym typeface="Inter"/>
              </a:rPr>
              <a:t> Real-time tracking of total collected revenue and outstanding bills.</a:t>
            </a:r>
            <a:endParaRPr/>
          </a:p>
        </p:txBody>
      </p:sp>
      <p:pic>
        <p:nvPicPr>
          <p:cNvPr id="189" name="Google Shape;189;p21"/>
          <p:cNvPicPr preferRelativeResize="0"/>
          <p:nvPr/>
        </p:nvPicPr>
        <p:blipFill rotWithShape="1">
          <a:blip r:embed="rId4">
            <a:alphaModFix/>
          </a:blip>
          <a:srcRect l="1059"/>
          <a:stretch/>
        </p:blipFill>
        <p:spPr>
          <a:xfrm>
            <a:off x="3276850" y="1258400"/>
            <a:ext cx="8607200" cy="52347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3"/>
        <p:cNvGrpSpPr/>
        <p:nvPr/>
      </p:nvGrpSpPr>
      <p:grpSpPr>
        <a:xfrm>
          <a:off x="0" y="0"/>
          <a:ext cx="0" cy="0"/>
          <a:chOff x="0" y="0"/>
          <a:chExt cx="0" cy="0"/>
        </a:xfrm>
      </p:grpSpPr>
      <p:pic>
        <p:nvPicPr>
          <p:cNvPr id="194" name="Google Shape;194;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5" name="Google Shape;195;p22"/>
          <p:cNvSpPr txBox="1"/>
          <p:nvPr/>
        </p:nvSpPr>
        <p:spPr>
          <a:xfrm>
            <a:off x="6381750" y="2486025"/>
            <a:ext cx="3214800" cy="27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4" b="1" i="0" u="none" strike="noStrike" cap="none">
                <a:solidFill>
                  <a:srgbClr val="F8FAFC"/>
                </a:solidFill>
                <a:latin typeface="Urbanist"/>
                <a:ea typeface="Urbanist"/>
                <a:cs typeface="Urbanist"/>
                <a:sym typeface="Urbanist"/>
              </a:rPr>
              <a:t>Static Persistence Layer</a:t>
            </a:r>
            <a:endParaRPr sz="1800"/>
          </a:p>
        </p:txBody>
      </p:sp>
      <p:sp>
        <p:nvSpPr>
          <p:cNvPr id="196" name="Google Shape;196;p22"/>
          <p:cNvSpPr txBox="1"/>
          <p:nvPr/>
        </p:nvSpPr>
        <p:spPr>
          <a:xfrm>
            <a:off x="6381750" y="2895600"/>
            <a:ext cx="5238750" cy="581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94A3B8"/>
                </a:solidFill>
                <a:latin typeface="Inter"/>
                <a:ea typeface="Inter"/>
                <a:cs typeface="Inter"/>
                <a:sym typeface="Inter"/>
              </a:rPr>
              <a:t>The FileManager class is designed with </a:t>
            </a:r>
            <a:r>
              <a:rPr lang="en-US" sz="1500" b="1" i="0" u="none" strike="noStrike" cap="none">
                <a:solidFill>
                  <a:srgbClr val="F8FAFC"/>
                </a:solidFill>
                <a:latin typeface="Inter"/>
                <a:ea typeface="Inter"/>
                <a:cs typeface="Inter"/>
                <a:sym typeface="Inter"/>
              </a:rPr>
              <a:t>static methods</a:t>
            </a:r>
            <a:r>
              <a:rPr lang="en-US" sz="1500" b="0" i="0" u="none" strike="noStrike" cap="none">
                <a:solidFill>
                  <a:srgbClr val="94A3B8"/>
                </a:solidFill>
                <a:latin typeface="Inter"/>
                <a:ea typeface="Inter"/>
                <a:cs typeface="Inter"/>
                <a:sym typeface="Inter"/>
              </a:rPr>
              <a:t> for a stateless utility approach.</a:t>
            </a:r>
            <a:endParaRPr/>
          </a:p>
        </p:txBody>
      </p:sp>
      <p:sp>
        <p:nvSpPr>
          <p:cNvPr id="197" name="Google Shape;197;p22"/>
          <p:cNvSpPr txBox="1"/>
          <p:nvPr/>
        </p:nvSpPr>
        <p:spPr>
          <a:xfrm>
            <a:off x="6715125" y="3629025"/>
            <a:ext cx="4905300" cy="231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Inter"/>
                <a:ea typeface="Inter"/>
                <a:cs typeface="Inter"/>
                <a:sym typeface="Inter"/>
              </a:rPr>
              <a:t>Consumers.txt:</a:t>
            </a:r>
            <a:r>
              <a:rPr lang="en-US" sz="1500" b="0" i="0" u="none" strike="noStrike" cap="none">
                <a:solidFill>
                  <a:srgbClr val="94A3B8"/>
                </a:solidFill>
                <a:latin typeface="Inter"/>
                <a:ea typeface="Inter"/>
                <a:cs typeface="Inter"/>
                <a:sym typeface="Inter"/>
              </a:rPr>
              <a:t> Records consumer data.</a:t>
            </a:r>
            <a:endParaRPr/>
          </a:p>
        </p:txBody>
      </p:sp>
      <p:sp>
        <p:nvSpPr>
          <p:cNvPr id="198" name="Google Shape;198;p22"/>
          <p:cNvSpPr txBox="1"/>
          <p:nvPr/>
        </p:nvSpPr>
        <p:spPr>
          <a:xfrm>
            <a:off x="6715125" y="4057650"/>
            <a:ext cx="49053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F8FAFC"/>
                </a:solidFill>
                <a:latin typeface="Inter"/>
                <a:ea typeface="Inter"/>
                <a:cs typeface="Inter"/>
                <a:sym typeface="Inter"/>
              </a:rPr>
              <a:t>Bills.txt:</a:t>
            </a:r>
            <a:r>
              <a:rPr lang="en-US" sz="1500" b="0" i="0" u="none" strike="noStrike" cap="none">
                <a:solidFill>
                  <a:srgbClr val="94A3B8"/>
                </a:solidFill>
                <a:latin typeface="Inter"/>
                <a:ea typeface="Inter"/>
                <a:cs typeface="Inter"/>
                <a:sym typeface="Inter"/>
              </a:rPr>
              <a:t> Historical billing records with payment flags.</a:t>
            </a:r>
            <a:endParaRPr/>
          </a:p>
        </p:txBody>
      </p:sp>
      <p:sp>
        <p:nvSpPr>
          <p:cNvPr id="199" name="Google Shape;199;p22"/>
          <p:cNvSpPr txBox="1"/>
          <p:nvPr/>
        </p:nvSpPr>
        <p:spPr>
          <a:xfrm>
            <a:off x="6715125" y="4486275"/>
            <a:ext cx="4905300" cy="231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a:solidFill>
                  <a:srgbClr val="F8FAFC"/>
                </a:solidFill>
                <a:latin typeface="Inter"/>
                <a:ea typeface="Inter"/>
                <a:cs typeface="Inter"/>
                <a:sym typeface="Inter"/>
              </a:rPr>
              <a:t>Users.txt</a:t>
            </a:r>
            <a:r>
              <a:rPr lang="en-US" sz="1500" b="1" i="0" u="none" strike="noStrike" cap="none">
                <a:solidFill>
                  <a:srgbClr val="F8FAFC"/>
                </a:solidFill>
                <a:latin typeface="Inter"/>
                <a:ea typeface="Inter"/>
                <a:cs typeface="Inter"/>
                <a:sym typeface="Inter"/>
              </a:rPr>
              <a:t>: </a:t>
            </a:r>
            <a:r>
              <a:rPr lang="en-US" sz="1500" i="0" u="none" strike="noStrike" cap="none">
                <a:solidFill>
                  <a:srgbClr val="888888"/>
                </a:solidFill>
                <a:latin typeface="Inter"/>
                <a:ea typeface="Inter"/>
                <a:cs typeface="Inter"/>
                <a:sym typeface="Inter"/>
              </a:rPr>
              <a:t>Records User </a:t>
            </a:r>
            <a:r>
              <a:rPr lang="en-US" sz="1500">
                <a:solidFill>
                  <a:srgbClr val="888888"/>
                </a:solidFill>
                <a:latin typeface="Inter"/>
                <a:ea typeface="Inter"/>
                <a:cs typeface="Inter"/>
                <a:sym typeface="Inter"/>
              </a:rPr>
              <a:t>Data</a:t>
            </a:r>
            <a:r>
              <a:rPr lang="en-US" sz="1500" b="0" i="0" u="none" strike="noStrike" cap="none">
                <a:solidFill>
                  <a:srgbClr val="888888"/>
                </a:solidFill>
                <a:latin typeface="Inter"/>
                <a:ea typeface="Inter"/>
                <a:cs typeface="Inter"/>
                <a:sym typeface="Inter"/>
              </a:rPr>
              <a:t> </a:t>
            </a:r>
            <a:endParaRPr>
              <a:solidFill>
                <a:srgbClr val="888888"/>
              </a:solidFill>
            </a:endParaRPr>
          </a:p>
        </p:txBody>
      </p:sp>
      <p:sp>
        <p:nvSpPr>
          <p:cNvPr id="200" name="Google Shape;200;p22"/>
          <p:cNvSpPr txBox="1"/>
          <p:nvPr/>
        </p:nvSpPr>
        <p:spPr>
          <a:xfrm>
            <a:off x="762000" y="571500"/>
            <a:ext cx="11401425"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DEFF9A"/>
                </a:solidFill>
                <a:latin typeface="Urbanist"/>
                <a:ea typeface="Urbanist"/>
                <a:cs typeface="Urbanist"/>
                <a:sym typeface="Urbanist"/>
              </a:rPr>
              <a:t>FILEMANAGER: DATA LAYER</a:t>
            </a:r>
            <a:endParaRPr/>
          </a:p>
        </p:txBody>
      </p:sp>
      <p:sp>
        <p:nvSpPr>
          <p:cNvPr id="201" name="Google Shape;201;p22"/>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2" name="Google Shape;202;p22" descr="image.png"/>
          <p:cNvPicPr preferRelativeResize="0"/>
          <p:nvPr/>
        </p:nvPicPr>
        <p:blipFill rotWithShape="1">
          <a:blip r:embed="rId4">
            <a:alphaModFix/>
          </a:blip>
          <a:srcRect/>
          <a:stretch/>
        </p:blipFill>
        <p:spPr>
          <a:xfrm>
            <a:off x="6381750" y="3629025"/>
            <a:ext cx="190500" cy="200025"/>
          </a:xfrm>
          <a:prstGeom prst="rect">
            <a:avLst/>
          </a:prstGeom>
          <a:noFill/>
          <a:ln>
            <a:noFill/>
          </a:ln>
        </p:spPr>
      </p:pic>
      <p:pic>
        <p:nvPicPr>
          <p:cNvPr id="203" name="Google Shape;203;p22" descr="image.png"/>
          <p:cNvPicPr preferRelativeResize="0"/>
          <p:nvPr/>
        </p:nvPicPr>
        <p:blipFill rotWithShape="1">
          <a:blip r:embed="rId4">
            <a:alphaModFix/>
          </a:blip>
          <a:srcRect/>
          <a:stretch/>
        </p:blipFill>
        <p:spPr>
          <a:xfrm>
            <a:off x="6381750" y="4057650"/>
            <a:ext cx="190500" cy="200025"/>
          </a:xfrm>
          <a:prstGeom prst="rect">
            <a:avLst/>
          </a:prstGeom>
          <a:noFill/>
          <a:ln>
            <a:noFill/>
          </a:ln>
        </p:spPr>
      </p:pic>
      <p:pic>
        <p:nvPicPr>
          <p:cNvPr id="204" name="Google Shape;204;p22" descr="image.png"/>
          <p:cNvPicPr preferRelativeResize="0"/>
          <p:nvPr/>
        </p:nvPicPr>
        <p:blipFill rotWithShape="1">
          <a:blip r:embed="rId4">
            <a:alphaModFix/>
          </a:blip>
          <a:srcRect/>
          <a:stretch/>
        </p:blipFill>
        <p:spPr>
          <a:xfrm>
            <a:off x="6381750" y="4486275"/>
            <a:ext cx="190500" cy="200025"/>
          </a:xfrm>
          <a:prstGeom prst="rect">
            <a:avLst/>
          </a:prstGeom>
          <a:noFill/>
          <a:ln>
            <a:noFill/>
          </a:ln>
        </p:spPr>
      </p:pic>
      <p:pic>
        <p:nvPicPr>
          <p:cNvPr id="205" name="Google Shape;205;p22"/>
          <p:cNvPicPr preferRelativeResize="0"/>
          <p:nvPr/>
        </p:nvPicPr>
        <p:blipFill>
          <a:blip r:embed="rId5">
            <a:alphaModFix/>
          </a:blip>
          <a:stretch>
            <a:fillRect/>
          </a:stretch>
        </p:blipFill>
        <p:spPr>
          <a:xfrm>
            <a:off x="307525" y="1570987"/>
            <a:ext cx="5883451" cy="4401800"/>
          </a:xfrm>
          <a:prstGeom prst="rect">
            <a:avLst/>
          </a:prstGeom>
          <a:noFill/>
          <a:ln>
            <a:noFill/>
          </a:ln>
        </p:spPr>
      </p:pic>
      <p:sp>
        <p:nvSpPr>
          <p:cNvPr id="206" name="Google Shape;206;p22"/>
          <p:cNvSpPr txBox="1"/>
          <p:nvPr/>
        </p:nvSpPr>
        <p:spPr>
          <a:xfrm>
            <a:off x="6715163" y="4924425"/>
            <a:ext cx="4905300" cy="231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a:solidFill>
                  <a:srgbClr val="F8FAFC"/>
                </a:solidFill>
                <a:latin typeface="Inter"/>
                <a:ea typeface="Inter"/>
                <a:cs typeface="Inter"/>
                <a:sym typeface="Inter"/>
              </a:rPr>
              <a:t>Rates.txt</a:t>
            </a:r>
            <a:r>
              <a:rPr lang="en-US" sz="1500" b="1" i="0" u="none" strike="noStrike" cap="none">
                <a:solidFill>
                  <a:srgbClr val="F8FAFC"/>
                </a:solidFill>
                <a:latin typeface="Inter"/>
                <a:ea typeface="Inter"/>
                <a:cs typeface="Inter"/>
                <a:sym typeface="Inter"/>
              </a:rPr>
              <a:t>: </a:t>
            </a:r>
            <a:r>
              <a:rPr lang="en-US" sz="1500">
                <a:solidFill>
                  <a:srgbClr val="888888"/>
                </a:solidFill>
                <a:latin typeface="Inter"/>
                <a:ea typeface="Inter"/>
                <a:cs typeface="Inter"/>
                <a:sym typeface="Inter"/>
              </a:rPr>
              <a:t>The Rates for Consumers are stored </a:t>
            </a:r>
            <a:endParaRPr>
              <a:solidFill>
                <a:srgbClr val="888888"/>
              </a:solidFill>
            </a:endParaRPr>
          </a:p>
        </p:txBody>
      </p:sp>
      <p:pic>
        <p:nvPicPr>
          <p:cNvPr id="207" name="Google Shape;207;p22" descr="image.png"/>
          <p:cNvPicPr preferRelativeResize="0"/>
          <p:nvPr/>
        </p:nvPicPr>
        <p:blipFill rotWithShape="1">
          <a:blip r:embed="rId4">
            <a:alphaModFix/>
          </a:blip>
          <a:srcRect/>
          <a:stretch/>
        </p:blipFill>
        <p:spPr>
          <a:xfrm>
            <a:off x="6381788" y="4924425"/>
            <a:ext cx="190500" cy="200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1"/>
        <p:cNvGrpSpPr/>
        <p:nvPr/>
      </p:nvGrpSpPr>
      <p:grpSpPr>
        <a:xfrm>
          <a:off x="0" y="0"/>
          <a:ext cx="0" cy="0"/>
          <a:chOff x="0" y="0"/>
          <a:chExt cx="0" cy="0"/>
        </a:xfrm>
      </p:grpSpPr>
      <p:sp>
        <p:nvSpPr>
          <p:cNvPr id="212" name="Google Shape;212;p23"/>
          <p:cNvSpPr txBox="1"/>
          <p:nvPr/>
        </p:nvSpPr>
        <p:spPr>
          <a:xfrm>
            <a:off x="762000" y="571500"/>
            <a:ext cx="114015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a:solidFill>
                  <a:srgbClr val="DEFF9A"/>
                </a:solidFill>
                <a:latin typeface="Urbanist"/>
                <a:ea typeface="Urbanist"/>
                <a:cs typeface="Urbanist"/>
                <a:sym typeface="Urbanist"/>
              </a:rPr>
              <a:t>Conclusion</a:t>
            </a:r>
            <a:endParaRPr/>
          </a:p>
        </p:txBody>
      </p:sp>
      <p:sp>
        <p:nvSpPr>
          <p:cNvPr id="213" name="Google Shape;213;p23"/>
          <p:cNvSpPr/>
          <p:nvPr/>
        </p:nvSpPr>
        <p:spPr>
          <a:xfrm>
            <a:off x="571500" y="571500"/>
            <a:ext cx="5715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4" name="Google Shape;214;p23"/>
          <p:cNvSpPr txBox="1"/>
          <p:nvPr/>
        </p:nvSpPr>
        <p:spPr>
          <a:xfrm>
            <a:off x="628650" y="1507850"/>
            <a:ext cx="10395600" cy="3540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300" b="1">
                <a:solidFill>
                  <a:schemeClr val="lt1"/>
                </a:solidFill>
                <a:latin typeface="Urbanist"/>
                <a:ea typeface="Urbanist"/>
                <a:cs typeface="Urbanist"/>
                <a:sym typeface="Urbanist"/>
              </a:rPr>
              <a:t>Voltly is an excellent example of how programming fundamentals can be made useful in the practical domain of utility management. Using OOP concepts like polymorphism to calculate tariffs dynamically, as well as abstraction for a well-designed structure, the program turns a difficult manual operation into a streamlined, accurate, and scalable one using C++. Along with an efficient file handling module, it provides a solid base for present use and future enhancements, including database and GUI integrations.</a:t>
            </a:r>
            <a:endParaRPr sz="2700">
              <a:solidFill>
                <a:schemeClr val="lt1"/>
              </a:solidFill>
              <a:latin typeface="Urbanist"/>
              <a:ea typeface="Urbanist"/>
              <a:cs typeface="Urbanist"/>
              <a:sym typeface="Urbani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8"/>
        <p:cNvGrpSpPr/>
        <p:nvPr/>
      </p:nvGrpSpPr>
      <p:grpSpPr>
        <a:xfrm>
          <a:off x="0" y="0"/>
          <a:ext cx="0" cy="0"/>
          <a:chOff x="0" y="0"/>
          <a:chExt cx="0" cy="0"/>
        </a:xfrm>
      </p:grpSpPr>
      <p:pic>
        <p:nvPicPr>
          <p:cNvPr id="219" name="Google Shape;219;p24" descr="image.png"/>
          <p:cNvPicPr preferRelativeResize="0"/>
          <p:nvPr/>
        </p:nvPicPr>
        <p:blipFill rotWithShape="1">
          <a:blip r:embed="rId3">
            <a:alphaModFix/>
          </a:blip>
          <a:srcRect/>
          <a:stretch/>
        </p:blipFill>
        <p:spPr>
          <a:xfrm>
            <a:off x="-54100" y="129800"/>
            <a:ext cx="12192000" cy="6858000"/>
          </a:xfrm>
          <a:prstGeom prst="rect">
            <a:avLst/>
          </a:prstGeom>
          <a:noFill/>
          <a:ln>
            <a:noFill/>
          </a:ln>
        </p:spPr>
      </p:pic>
      <p:sp>
        <p:nvSpPr>
          <p:cNvPr id="220" name="Google Shape;220;p24"/>
          <p:cNvSpPr txBox="1"/>
          <p:nvPr/>
        </p:nvSpPr>
        <p:spPr>
          <a:xfrm>
            <a:off x="295275" y="2458125"/>
            <a:ext cx="11601600" cy="11544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7500" b="1" i="0" u="none" strike="noStrike" cap="none">
                <a:solidFill>
                  <a:srgbClr val="DEFF9A"/>
                </a:solidFill>
                <a:latin typeface="Urbanist"/>
                <a:ea typeface="Urbanist"/>
                <a:cs typeface="Urbanist"/>
                <a:sym typeface="Urbanist"/>
              </a:rPr>
              <a:t>THANK YOU</a:t>
            </a:r>
            <a:endParaRPr/>
          </a:p>
        </p:txBody>
      </p:sp>
      <p:sp>
        <p:nvSpPr>
          <p:cNvPr id="221" name="Google Shape;221;p24"/>
          <p:cNvSpPr txBox="1"/>
          <p:nvPr/>
        </p:nvSpPr>
        <p:spPr>
          <a:xfrm>
            <a:off x="571500" y="3833663"/>
            <a:ext cx="11049000" cy="3693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400" b="0" i="0" u="none" strike="noStrike" cap="none">
                <a:solidFill>
                  <a:srgbClr val="94A3B8"/>
                </a:solidFill>
                <a:latin typeface="Inter"/>
                <a:ea typeface="Inter"/>
                <a:cs typeface="Inter"/>
                <a:sym typeface="Inter"/>
              </a:rPr>
              <a:t>Smart Electricity Billing System (C++)</a:t>
            </a:r>
            <a:endParaRPr/>
          </a:p>
        </p:txBody>
      </p:sp>
      <p:sp>
        <p:nvSpPr>
          <p:cNvPr id="222" name="Google Shape;222;p24"/>
          <p:cNvSpPr txBox="1"/>
          <p:nvPr/>
        </p:nvSpPr>
        <p:spPr>
          <a:xfrm>
            <a:off x="571500" y="4448175"/>
            <a:ext cx="11049000" cy="276225"/>
          </a:xfrm>
          <a:prstGeom prst="rect">
            <a:avLst/>
          </a:prstGeom>
          <a:noFill/>
          <a:ln>
            <a:noFill/>
          </a:ln>
        </p:spPr>
        <p:txBody>
          <a:bodyPr spcFirstLastPara="1" wrap="square" lIns="285750" tIns="0" rIns="0" bIns="0" anchor="t" anchorCtr="0">
            <a:spAutoFit/>
          </a:bodyPr>
          <a:lstStyle/>
          <a:p>
            <a:pPr marL="0" marR="0" lvl="0" indent="0" algn="ctr" rtl="0">
              <a:spcBef>
                <a:spcPts val="0"/>
              </a:spcBef>
              <a:spcAft>
                <a:spcPts val="0"/>
              </a:spcAft>
              <a:buNone/>
            </a:pPr>
            <a:r>
              <a:rPr lang="en-US" sz="1800" b="0" i="0" u="none" strike="noStrike" cap="none">
                <a:solidFill>
                  <a:srgbClr val="DEFF9A"/>
                </a:solidFill>
                <a:latin typeface="Inter"/>
                <a:ea typeface="Inter"/>
                <a:cs typeface="Inter"/>
                <a:sym typeface="Inter"/>
              </a:rPr>
              <a:t>Questions &amp; Discussion</a:t>
            </a:r>
            <a:endParaRPr/>
          </a:p>
        </p:txBody>
      </p:sp>
      <p:pic>
        <p:nvPicPr>
          <p:cNvPr id="223" name="Google Shape;223;p24" descr="image.png"/>
          <p:cNvPicPr preferRelativeResize="0"/>
          <p:nvPr/>
        </p:nvPicPr>
        <p:blipFill rotWithShape="1">
          <a:blip r:embed="rId4">
            <a:alphaModFix/>
          </a:blip>
          <a:srcRect/>
          <a:stretch/>
        </p:blipFill>
        <p:spPr>
          <a:xfrm>
            <a:off x="4648200" y="4467225"/>
            <a:ext cx="285750" cy="2286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636</Words>
  <Application>Microsoft Office PowerPoint</Application>
  <PresentationFormat>Widescreen</PresentationFormat>
  <Paragraphs>66</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Urbanist</vt:lpstr>
      <vt:lpstr>Arial</vt:lpstr>
      <vt:lpstr>Calibri</vt:lpstr>
      <vt:lpstr>Inter SemiBold</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09-131252-063</cp:lastModifiedBy>
  <cp:revision>1</cp:revision>
  <dcterms:modified xsi:type="dcterms:W3CDTF">2026-05-23T19:29:11Z</dcterms:modified>
</cp:coreProperties>
</file>